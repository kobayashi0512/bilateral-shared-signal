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4000" y="126000"/>
            <a:ext cx="6159600" cy="140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1" b="1">
                <a:solidFill>
                  <a:srgbClr val="087E78"/>
                </a:solidFill>
                <a:latin typeface="Arial"/>
              </a:rPr>
              <a:t>STUDY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000" y="244799"/>
            <a:ext cx="6159600" cy="247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60" b="1">
                <a:solidFill>
                  <a:srgbClr val="183346"/>
                </a:solidFill>
                <a:latin typeface="Arial"/>
              </a:rPr>
              <a:t>Conditional bilateral correspondence: from images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000" y="485999"/>
            <a:ext cx="6159600" cy="145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647884"/>
                </a:solidFill>
                <a:latin typeface="Arial"/>
              </a:rPr>
              <a:t>Test cross-eye correspondence against grade and quality controls; audit view effects separately.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4000" y="684000"/>
            <a:ext cx="6012000" cy="0"/>
          </a:xfrm>
          <a:prstGeom prst="line">
            <a:avLst/>
          </a:prstGeom>
          <a:ln w="72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7599" y="709200"/>
            <a:ext cx="6156000" cy="204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77" b="1">
                <a:solidFill>
                  <a:srgbClr val="087E78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200" y="727200"/>
            <a:ext cx="6008400" cy="170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83346"/>
                </a:solidFill>
                <a:latin typeface="Arial"/>
              </a:rPr>
              <a:t>Patient as the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799" y="878400"/>
            <a:ext cx="6148800" cy="13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3" b="0">
                <a:solidFill>
                  <a:srgbClr val="647884"/>
                </a:solidFill>
                <a:latin typeface="Arial"/>
              </a:rPr>
              <a:t>DeepDRiD  ·  300 complete bilateral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00" y="1051200"/>
            <a:ext cx="1728000" cy="1728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3200" y="1119600"/>
            <a:ext cx="727200" cy="129600"/>
          </a:xfrm>
          <a:prstGeom prst="roundRect">
            <a:avLst>
              <a:gd name="adj" fmla="val 25000"/>
            </a:avLst>
          </a:prstGeom>
          <a:solidFill>
            <a:srgbClr val="E8F5F2"/>
          </a:solidFill>
          <a:ln w="3600">
            <a:solidFill>
              <a:srgbClr val="E8F5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115200" y="1134000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087E78"/>
                </a:solidFill>
                <a:latin typeface="Arial"/>
              </a:rPr>
              <a:t>SOURCE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00" y="1256400"/>
            <a:ext cx="6076800" cy="153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37" b="1">
                <a:solidFill>
                  <a:srgbClr val="183346"/>
                </a:solidFill>
                <a:latin typeface="Arial"/>
              </a:rPr>
              <a:t>Patient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800" y="1389600"/>
            <a:ext cx="60768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2 eyes × 2 views = 4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600" y="1548000"/>
            <a:ext cx="666000" cy="399600"/>
          </a:xfrm>
          <a:prstGeom prst="roundRect">
            <a:avLst>
              <a:gd name="adj" fmla="val 2702"/>
            </a:avLst>
          </a:prstGeom>
          <a:solidFill>
            <a:srgbClr val="EEF2F3"/>
          </a:solidFill>
          <a:ln w="7200">
            <a:solidFill>
              <a:srgbClr val="AE75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2" y="1555200"/>
            <a:ext cx="366615" cy="385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82399" y="1936799"/>
            <a:ext cx="324000" cy="129600"/>
          </a:xfrm>
          <a:prstGeom prst="roundRect">
            <a:avLst>
              <a:gd name="adj" fmla="val 25000"/>
            </a:avLst>
          </a:prstGeom>
          <a:solidFill>
            <a:srgbClr val="FBF3E8"/>
          </a:solidFill>
          <a:ln w="3600">
            <a:solidFill>
              <a:srgbClr val="FBF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147600" y="1951199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AE752B"/>
                </a:solidFill>
                <a:latin typeface="Arial"/>
              </a:rPr>
              <a:t>L1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200" y="1548000"/>
            <a:ext cx="666000" cy="399600"/>
          </a:xfrm>
          <a:prstGeom prst="roundRect">
            <a:avLst>
              <a:gd name="adj" fmla="val 2702"/>
            </a:avLst>
          </a:prstGeom>
          <a:solidFill>
            <a:srgbClr val="EEF2F3"/>
          </a:solidFill>
          <a:ln w="7200">
            <a:solidFill>
              <a:srgbClr val="AE75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892" y="1555200"/>
            <a:ext cx="366615" cy="385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260000" y="1936799"/>
            <a:ext cx="324000" cy="129600"/>
          </a:xfrm>
          <a:prstGeom prst="roundRect">
            <a:avLst>
              <a:gd name="adj" fmla="val 25000"/>
            </a:avLst>
          </a:prstGeom>
          <a:solidFill>
            <a:srgbClr val="FBF3E8"/>
          </a:solidFill>
          <a:ln w="3600">
            <a:solidFill>
              <a:srgbClr val="FBF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" y="1951199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AE752B"/>
                </a:solidFill>
                <a:latin typeface="Arial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600" y="2095200"/>
            <a:ext cx="666000" cy="399600"/>
          </a:xfrm>
          <a:prstGeom prst="roundRect">
            <a:avLst>
              <a:gd name="adj" fmla="val 2702"/>
            </a:avLst>
          </a:prstGeom>
          <a:solidFill>
            <a:srgbClr val="EEF2F3"/>
          </a:solidFill>
          <a:ln w="7200"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R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92" y="2102400"/>
            <a:ext cx="366615" cy="3852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82399" y="2484000"/>
            <a:ext cx="324000" cy="129600"/>
          </a:xfrm>
          <a:prstGeom prst="roundRect">
            <a:avLst>
              <a:gd name="adj" fmla="val 25000"/>
            </a:avLst>
          </a:prstGeom>
          <a:solidFill>
            <a:srgbClr val="EAF3F8"/>
          </a:solidFill>
          <a:ln w="3600">
            <a:solidFill>
              <a:srgbClr val="EAF3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-147600" y="2498400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2876A0"/>
                </a:solidFill>
                <a:latin typeface="Arial"/>
              </a:rPr>
              <a:t>R1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7200" y="2095200"/>
            <a:ext cx="666000" cy="399600"/>
          </a:xfrm>
          <a:prstGeom prst="roundRect">
            <a:avLst>
              <a:gd name="adj" fmla="val 2702"/>
            </a:avLst>
          </a:prstGeom>
          <a:solidFill>
            <a:srgbClr val="EEF2F3"/>
          </a:solidFill>
          <a:ln w="7200"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R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892" y="2102400"/>
            <a:ext cx="366615" cy="3852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260000" y="2484000"/>
            <a:ext cx="324000" cy="129600"/>
          </a:xfrm>
          <a:prstGeom prst="roundRect">
            <a:avLst>
              <a:gd name="adj" fmla="val 25000"/>
            </a:avLst>
          </a:prstGeom>
          <a:solidFill>
            <a:srgbClr val="EAF3F8"/>
          </a:solidFill>
          <a:ln w="3600">
            <a:solidFill>
              <a:srgbClr val="EAF3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00" y="2498400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2876A0"/>
                </a:solidFill>
                <a:latin typeface="Arial"/>
              </a:rPr>
              <a:t>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800" y="2642400"/>
            <a:ext cx="60768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Patient-disjoint train / val / test: 210 / 46 / 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98800" y="709200"/>
            <a:ext cx="4294800" cy="204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77" b="1">
                <a:solidFill>
                  <a:srgbClr val="087E78"/>
                </a:solidFill>
                <a:latin typeface="Arial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0000" y="727200"/>
            <a:ext cx="4143600" cy="170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83346"/>
                </a:solidFill>
                <a:latin typeface="Arial"/>
              </a:rPr>
              <a:t>Define the contrasts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2400" y="878400"/>
            <a:ext cx="4291200" cy="13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3" b="0">
                <a:solidFill>
                  <a:srgbClr val="647884"/>
                </a:solidFill>
                <a:latin typeface="Arial"/>
              </a:rPr>
              <a:t>One source patient; preserve eye and view labels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8000" y="1051200"/>
            <a:ext cx="2145600" cy="1728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70800" y="1137600"/>
            <a:ext cx="1980000" cy="399600"/>
          </a:xfrm>
          <a:prstGeom prst="roundRect">
            <a:avLst>
              <a:gd name="adj" fmla="val 10810"/>
            </a:avLst>
          </a:prstGeom>
          <a:solidFill>
            <a:srgbClr val="E8F5F2"/>
          </a:solidFill>
          <a:ln w="3600">
            <a:solidFill>
              <a:srgbClr val="E8F5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53600" y="1184400"/>
            <a:ext cx="4140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087E78"/>
                </a:solidFill>
                <a:latin typeface="Arial"/>
              </a:rPr>
              <a:t>POSITIVE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3600" y="1263600"/>
            <a:ext cx="4140000" cy="191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92" b="1">
                <a:solidFill>
                  <a:srgbClr val="183346"/>
                </a:solidFill>
                <a:latin typeface="Arial"/>
              </a:rPr>
              <a:t>L(i)  ↔  R(i)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8000" y="1310400"/>
            <a:ext cx="34056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same patient, opposite eyes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0800" y="1605600"/>
            <a:ext cx="1980000" cy="399600"/>
          </a:xfrm>
          <a:prstGeom prst="roundRect">
            <a:avLst>
              <a:gd name="adj" fmla="val 10810"/>
            </a:avLst>
          </a:prstGeom>
          <a:solidFill>
            <a:srgbClr val="EAF3F8"/>
          </a:solidFill>
          <a:ln w="3600">
            <a:solidFill>
              <a:srgbClr val="EAF3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3600" y="1652400"/>
            <a:ext cx="4140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2876A0"/>
                </a:solidFill>
                <a:latin typeface="Arial"/>
              </a:rPr>
              <a:t>NEGATIVE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3600" y="1731600"/>
            <a:ext cx="4140000" cy="191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92" b="1">
                <a:solidFill>
                  <a:srgbClr val="183346"/>
                </a:solidFill>
                <a:latin typeface="Arial"/>
              </a:rPr>
              <a:t>L(i)  ↔  R(j)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8000" y="1778400"/>
            <a:ext cx="34056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different patients; j ≠ 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74400" y="2109600"/>
            <a:ext cx="1972800" cy="0"/>
          </a:xfrm>
          <a:prstGeom prst="line">
            <a:avLst/>
          </a:prstGeom>
          <a:ln w="72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50000" y="2156400"/>
            <a:ext cx="4143600" cy="13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3" b="1">
                <a:solidFill>
                  <a:srgbClr val="183346"/>
                </a:solidFill>
                <a:latin typeface="Arial"/>
              </a:rPr>
              <a:t>View checks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0000" y="2275200"/>
            <a:ext cx="4143600" cy="140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1" b="0">
                <a:solidFill>
                  <a:srgbClr val="2876A0"/>
                </a:solidFill>
                <a:latin typeface="Arial"/>
              </a:rPr>
              <a:t>L1–R1  ·  L1–R2  ·  L2–R1  ·  L2–R2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0000" y="2408400"/>
            <a:ext cx="41436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Same-eye repeats (L1–L2, R1–R2) audit hierarchy.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50000" y="2592000"/>
            <a:ext cx="41436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Five fixed patient-level negative assignments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6000" y="709200"/>
            <a:ext cx="2037600" cy="204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77" b="1">
                <a:solidFill>
                  <a:srgbClr val="087E78"/>
                </a:solidFill>
                <a:latin typeface="Arial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0800" y="727200"/>
            <a:ext cx="1882800" cy="170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83346"/>
                </a:solidFill>
                <a:latin typeface="Arial"/>
              </a:rPr>
              <a:t>Measure correspondence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6000" y="878400"/>
            <a:ext cx="2037600" cy="13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3" b="0">
                <a:solidFill>
                  <a:srgbClr val="647884"/>
                </a:solidFill>
                <a:latin typeface="Arial"/>
              </a:rPr>
              <a:t>Frozen raw representation · no feature tuning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45200" y="1051200"/>
            <a:ext cx="1900799" cy="1728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28000" y="1173600"/>
            <a:ext cx="1728000" cy="302399"/>
          </a:xfrm>
          <a:prstGeom prst="roundRect">
            <a:avLst>
              <a:gd name="adj" fmla="val 13095"/>
            </a:avLst>
          </a:prstGeom>
          <a:solidFill>
            <a:srgbClr val="EAF3F8"/>
          </a:solidFill>
          <a:ln w="3600">
            <a:solidFill>
              <a:srgbClr val="EAF3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0000" y="1202400"/>
            <a:ext cx="1584000" cy="153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7" b="1">
                <a:solidFill>
                  <a:srgbClr val="183346"/>
                </a:solidFill>
                <a:latin typeface="Arial"/>
              </a:rPr>
              <a:t>ImageNet ResNet-50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0000" y="1321200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same fixed encoder for each image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291999" y="1494000"/>
            <a:ext cx="0" cy="16200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428000" y="1699200"/>
            <a:ext cx="1728000" cy="277200"/>
          </a:xfrm>
          <a:prstGeom prst="roundRect">
            <a:avLst>
              <a:gd name="adj" fmla="val 14285"/>
            </a:avLst>
          </a:prstGeom>
          <a:solidFill>
            <a:srgbClr val="E8F5F2"/>
          </a:solidFill>
          <a:ln w="3600">
            <a:solidFill>
              <a:srgbClr val="E8F5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00000" y="1731600"/>
            <a:ext cx="1584000" cy="153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7" b="1">
                <a:solidFill>
                  <a:srgbClr val="183346"/>
                </a:solidFill>
                <a:latin typeface="Arial"/>
              </a:rPr>
              <a:t>Cosine score  s(L, R)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291999" y="1998000"/>
            <a:ext cx="0" cy="16200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428000" y="2192400"/>
            <a:ext cx="1728000" cy="277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0000" y="2228400"/>
            <a:ext cx="1584000" cy="14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8" b="1">
                <a:solidFill>
                  <a:srgbClr val="183346"/>
                </a:solidFill>
                <a:latin typeface="Arial"/>
              </a:rPr>
              <a:t>Pair AUROC + cosine gap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5200" y="2552400"/>
            <a:ext cx="1958399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Auxiliary: grade / quality metadata probes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962000" y="1925999"/>
            <a:ext cx="100800" cy="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40800" y="1925999"/>
            <a:ext cx="79200" cy="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34000" y="2894400"/>
            <a:ext cx="6012000" cy="0"/>
          </a:xfrm>
          <a:prstGeom prst="line">
            <a:avLst/>
          </a:prstGeom>
          <a:ln w="72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37599" y="2926800"/>
            <a:ext cx="6156000" cy="204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77" b="1">
                <a:solidFill>
                  <a:srgbClr val="087E78"/>
                </a:solidFill>
                <a:latin typeface="Arial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800" y="2944800"/>
            <a:ext cx="6004800" cy="170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83346"/>
                </a:solidFill>
                <a:latin typeface="Arial"/>
              </a:rPr>
              <a:t>Make cross-patient negatives progressively harder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4799" y="3103199"/>
            <a:ext cx="6148800" cy="13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3" b="0">
                <a:solidFill>
                  <a:srgbClr val="647884"/>
                </a:solidFill>
                <a:latin typeface="Arial"/>
              </a:rPr>
              <a:t>The positive pairs and frozen features stay fixed; only negative-patient matching changes.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4000" y="3283200"/>
            <a:ext cx="1893600" cy="72720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34000" y="3283200"/>
            <a:ext cx="1893600" cy="32400"/>
          </a:xfrm>
          <a:prstGeom prst="roundRect">
            <a:avLst>
              <a:gd name="adj" fmla="val 22222"/>
            </a:avLst>
          </a:prstGeom>
          <a:solidFill>
            <a:srgbClr val="AE752B"/>
          </a:solidFill>
          <a:ln>
            <a:solidFill>
              <a:srgbClr val="AE75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400" y="3376800"/>
            <a:ext cx="60732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AE752B"/>
                </a:solidFill>
                <a:latin typeface="Arial"/>
              </a:rPr>
              <a:t>01  DISEASE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400" y="3524400"/>
            <a:ext cx="6073200" cy="157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5" b="1">
                <a:solidFill>
                  <a:srgbClr val="183346"/>
                </a:solidFill>
                <a:latin typeface="Arial"/>
              </a:rPr>
              <a:t>Same DR grade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400" y="3682800"/>
            <a:ext cx="60732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Mean |Δ quality|  0.198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0400" y="3837599"/>
            <a:ext cx="1720800" cy="97200"/>
          </a:xfrm>
          <a:prstGeom prst="roundRect">
            <a:avLst>
              <a:gd name="adj" fmla="val 25000"/>
            </a:avLst>
          </a:prstGeom>
          <a:solidFill>
            <a:srgbClr val="FBF3E8"/>
          </a:solidFill>
          <a:ln>
            <a:solidFill>
              <a:srgbClr val="FBF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5200" y="3833999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AE752B"/>
                </a:solidFill>
                <a:latin typeface="Arial"/>
              </a:rPr>
              <a:t>grade stratum · patient derangement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93200" y="3283200"/>
            <a:ext cx="1893600" cy="72720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293200" y="3283200"/>
            <a:ext cx="1893600" cy="32400"/>
          </a:xfrm>
          <a:prstGeom prst="roundRect">
            <a:avLst>
              <a:gd name="adj" fmla="val 22222"/>
            </a:avLst>
          </a:prstGeom>
          <a:solidFill>
            <a:srgbClr val="087E78"/>
          </a:solidFill>
          <a:ln>
            <a:solidFill>
              <a:srgbClr val="087E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9600" y="3376800"/>
            <a:ext cx="401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087E78"/>
                </a:solidFill>
                <a:latin typeface="Arial"/>
              </a:rPr>
              <a:t>02  JOINT CONTROL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9600" y="3524400"/>
            <a:ext cx="4014000" cy="157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5" b="1">
                <a:solidFill>
                  <a:srgbClr val="183346"/>
                </a:solidFill>
                <a:latin typeface="Arial"/>
              </a:rPr>
              <a:t>Grade + exact quality tier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79600" y="3682800"/>
            <a:ext cx="401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Mean |Δ quality|  0.071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79600" y="3837599"/>
            <a:ext cx="1720800" cy="97200"/>
          </a:xfrm>
          <a:prstGeom prst="roundRect">
            <a:avLst>
              <a:gd name="adj" fmla="val 25000"/>
            </a:avLst>
          </a:prstGeom>
          <a:solidFill>
            <a:srgbClr val="E8F5F2"/>
          </a:solidFill>
          <a:ln>
            <a:solidFill>
              <a:srgbClr val="E8F5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44400" y="3833999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087E78"/>
                </a:solidFill>
                <a:latin typeface="Arial"/>
              </a:rPr>
              <a:t>exact grade × tier bucket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52400" y="3283200"/>
            <a:ext cx="1893600" cy="72720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352400" y="3283200"/>
            <a:ext cx="1893600" cy="32400"/>
          </a:xfrm>
          <a:prstGeom prst="roundRect">
            <a:avLst>
              <a:gd name="adj" fmla="val 22222"/>
            </a:avLst>
          </a:prstGeom>
          <a:solidFill>
            <a:srgbClr val="2876A0"/>
          </a:solidFill>
          <a:ln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38800" y="3376800"/>
            <a:ext cx="1954799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2876A0"/>
                </a:solidFill>
                <a:latin typeface="Arial"/>
              </a:rPr>
              <a:t>03  SENSITIVITY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8800" y="3524400"/>
            <a:ext cx="1954799" cy="157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5" b="1">
                <a:solidFill>
                  <a:srgbClr val="183346"/>
                </a:solidFill>
                <a:latin typeface="Arial"/>
              </a:rPr>
              <a:t>Grade + nearest quality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38800" y="3682800"/>
            <a:ext cx="1954799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Mean |Δ quality|  0.024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38800" y="3837599"/>
            <a:ext cx="1720800" cy="97200"/>
          </a:xfrm>
          <a:prstGeom prst="roundRect">
            <a:avLst>
              <a:gd name="adj" fmla="val 25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3600" y="3833999"/>
            <a:ext cx="158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2876A0"/>
                </a:solidFill>
                <a:latin typeface="Arial"/>
              </a:rPr>
              <a:t>within grade · nearest assignment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127600" y="3643200"/>
            <a:ext cx="129600" cy="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186800" y="3643200"/>
            <a:ext cx="129600" cy="0"/>
          </a:xfrm>
          <a:prstGeom prst="line">
            <a:avLst/>
          </a:prstGeom>
          <a:ln w="14400">
            <a:solidFill>
              <a:srgbClr val="08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34000" y="4136400"/>
            <a:ext cx="6012000" cy="0"/>
          </a:xfrm>
          <a:prstGeom prst="line">
            <a:avLst/>
          </a:prstGeom>
          <a:ln w="72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37599" y="4165200"/>
            <a:ext cx="6156000" cy="204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77" b="1">
                <a:solidFill>
                  <a:srgbClr val="087E78"/>
                </a:solidFill>
                <a:latin typeface="Arial"/>
              </a:rPr>
              <a:t>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8800" y="4183200"/>
            <a:ext cx="6004800" cy="170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83346"/>
                </a:solidFill>
                <a:latin typeface="Arial"/>
              </a:rPr>
              <a:t>Audit at three evidence levels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34000" y="4392000"/>
            <a:ext cx="1893600" cy="540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34000" y="4392000"/>
            <a:ext cx="25200" cy="540000"/>
          </a:xfrm>
          <a:prstGeom prst="roundRect">
            <a:avLst>
              <a:gd name="adj" fmla="val 25000"/>
            </a:avLst>
          </a:prstGeom>
          <a:solidFill>
            <a:srgbClr val="087E78"/>
          </a:solidFill>
          <a:ln>
            <a:solidFill>
              <a:srgbClr val="087E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400" y="4417200"/>
            <a:ext cx="6073200" cy="162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3" b="1">
                <a:solidFill>
                  <a:srgbClr val="183346"/>
                </a:solidFill>
                <a:latin typeface="Arial"/>
              </a:rPr>
              <a:t>DeepDRiD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400" y="4546800"/>
            <a:ext cx="60732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087E78"/>
                </a:solidFill>
                <a:latin typeface="Arial"/>
              </a:rPr>
              <a:t>INTERNAL MEASUREMENT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400" y="4694400"/>
            <a:ext cx="6073200" cy="24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Full 300: condition controls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Test: four-view n=43; probes n=44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293200" y="4392000"/>
            <a:ext cx="1893600" cy="540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293200" y="4392000"/>
            <a:ext cx="25200" cy="540000"/>
          </a:xfrm>
          <a:prstGeom prst="roundRect">
            <a:avLst>
              <a:gd name="adj" fmla="val 25000"/>
            </a:avLst>
          </a:prstGeom>
          <a:solidFill>
            <a:srgbClr val="AE752B"/>
          </a:solidFill>
          <a:ln>
            <a:solidFill>
              <a:srgbClr val="AE75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79600" y="4417200"/>
            <a:ext cx="4014000" cy="162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3" b="1">
                <a:solidFill>
                  <a:srgbClr val="183346"/>
                </a:solidFill>
                <a:latin typeface="Arial"/>
              </a:rPr>
              <a:t>CFP–OCT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79600" y="4546800"/>
            <a:ext cx="4014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AE752B"/>
                </a:solidFill>
                <a:latin typeface="Arial"/>
              </a:rPr>
              <a:t>DEVELOPMENT STRESS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79600" y="4694400"/>
            <a:ext cx="4014000" cy="24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137 eligible: raw vs H-CBFD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Candidate loses to raw baseline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352400" y="4392000"/>
            <a:ext cx="1893600" cy="540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7200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352400" y="4392000"/>
            <a:ext cx="25200" cy="540000"/>
          </a:xfrm>
          <a:prstGeom prst="roundRect">
            <a:avLst>
              <a:gd name="adj" fmla="val 25000"/>
            </a:avLst>
          </a:prstGeom>
          <a:solidFill>
            <a:srgbClr val="2876A0"/>
          </a:solidFill>
          <a:ln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38800" y="4417200"/>
            <a:ext cx="1954799" cy="162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3" b="1">
                <a:solidFill>
                  <a:srgbClr val="183346"/>
                </a:solidFill>
                <a:latin typeface="Arial"/>
              </a:rPr>
              <a:t>PAPILA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38800" y="4546800"/>
            <a:ext cx="1954799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2876A0"/>
                </a:solidFill>
                <a:latin typeface="Arial"/>
              </a:rPr>
              <a:t>LOCKED EXTERNAL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38800" y="4694400"/>
            <a:ext cx="1954799" cy="24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244 patients · one image/eye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95" b="0">
                <a:solidFill>
                  <a:srgbClr val="647884"/>
                </a:solidFill>
                <a:latin typeface="Arial"/>
              </a:rPr>
              <a:t>Frozen raw features only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590800" y="4496400"/>
            <a:ext cx="259200" cy="244799"/>
          </a:xfrm>
          <a:prstGeom prst="roundRect">
            <a:avLst>
              <a:gd name="adj" fmla="val 4411"/>
            </a:avLst>
          </a:prstGeom>
          <a:solidFill>
            <a:srgbClr val="EEF2F3"/>
          </a:solidFill>
          <a:ln w="7200"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right_eye_exampl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000" y="4526904"/>
            <a:ext cx="244799" cy="18379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590800" y="4766400"/>
            <a:ext cx="259200" cy="1196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10" b="1">
                <a:solidFill>
                  <a:srgbClr val="2876A0"/>
                </a:solidFill>
                <a:latin typeface="Arial"/>
              </a:rPr>
              <a:t>OD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893200" y="4496400"/>
            <a:ext cx="259200" cy="244799"/>
          </a:xfrm>
          <a:prstGeom prst="roundRect">
            <a:avLst>
              <a:gd name="adj" fmla="val 4411"/>
            </a:avLst>
          </a:prstGeom>
          <a:solidFill>
            <a:srgbClr val="EEF2F3"/>
          </a:solidFill>
          <a:ln w="7200">
            <a:solidFill>
              <a:srgbClr val="2876A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left_eye_exampl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400" y="4526904"/>
            <a:ext cx="244799" cy="18379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893200" y="4766400"/>
            <a:ext cx="259200" cy="1196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10" b="1">
                <a:solidFill>
                  <a:srgbClr val="2876A0"/>
                </a:solidFill>
                <a:latin typeface="Arial"/>
              </a:rPr>
              <a:t>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34000" y="5032800"/>
            <a:ext cx="6012000" cy="201600"/>
          </a:xfrm>
          <a:prstGeom prst="roundRect">
            <a:avLst>
              <a:gd name="adj" fmla="val 16071"/>
            </a:avLst>
          </a:prstGeom>
          <a:solidFill>
            <a:srgbClr val="EEF2F3"/>
          </a:solidFill>
          <a:ln>
            <a:solidFill>
              <a:srgbClr val="EEF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96000" y="5086800"/>
            <a:ext cx="5688000" cy="13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95" b="1">
                <a:solidFill>
                  <a:srgbClr val="183346"/>
                </a:solidFill>
                <a:latin typeface="Arial"/>
              </a:rPr>
              <a:t>Claim boundary: correspondence does not establish patient identity or a disease-independent biomarker.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